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DM Sans" panose="020F0502020204030204" pitchFamily="2" charset="0"/>
      <p:regular r:id="rId23"/>
      <p:bold r:id="rId24"/>
      <p:italic r:id="rId25"/>
      <p:boldItalic r:id="rId26"/>
    </p:embeddedFont>
    <p:embeddedFont>
      <p:font typeface="Merriweather" panose="020F0502020204030204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CFA206-6E5B-4238-9C4E-D06F54029BBE}">
  <a:tblStyle styleId="{75CFA206-6E5B-4238-9C4E-D06F54029B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359247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806922"/>
            <a:ext cx="11601450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Mental Health Status Classification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30972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778DA9"/>
                </a:solidFill>
                <a:latin typeface="DM Sans"/>
                <a:ea typeface="DM Sans"/>
                <a:cs typeface="DM Sans"/>
                <a:sym typeface="DM Sans"/>
              </a:rPr>
              <a:t>Social Media Text Analysis using Natural Language Processing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57362" y="4716277"/>
            <a:ext cx="2457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Project Authors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657362" y="5070677"/>
            <a:ext cx="2457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Abhi P Vijay &amp; Nakshathra 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4625"/>
            <a:ext cx="523875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57250" y="3000375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Motivation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486150"/>
            <a:ext cx="46672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DM Sans"/>
                <a:ea typeface="DM Sans"/>
                <a:cs typeface="DM Sans"/>
                <a:sym typeface="DM Sans"/>
              </a:rPr>
              <a:t>Mental health is a critical global concern, yet many suffer in silence due to social stigma. Today, social media platforms like X (formerly Twitter) serve as a mirror to individual psychological states.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271462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Our Vision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320040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We aim to leverage the "digital fingerprints" left on social media to build an automated, reliable classification system that can detect depressive symptoms from raw text data, enabling early intervention.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&amp; Context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46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146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14600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66775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66775" y="39814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Analyze linguistic markers and emotional patterns in high-volume social media datasets.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5074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Automation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5074" y="39814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Build a machine learning pipeline using TF-IDF and Linear Support Vector Machines.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3374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Accessibility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23374" y="39814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Deploy a user-friendly interface via Streamlit for real-time mental health status prediction.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575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575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575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Core Project Objectives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238375" y="2724150"/>
            <a:ext cx="814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Diagnostic Lag: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Traditional mental health assessment is reactive and often happens only when a crisis occurs.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238375" y="3524250"/>
            <a:ext cx="814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Data Underutilization: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Massive amounts of behavioral text data on social media remain untapped for health screening.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2238375" y="4324350"/>
            <a:ext cx="814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System Goal: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Need for a scalable, non-intrusive tool to categorize text into "Normal" or "Depression" status.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762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562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3624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46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146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14600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866775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Language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66775" y="39814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Python 3.x with Scikit-learn for model training and evaluation.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645074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NLP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645074" y="39814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NLTK (Natural Language Toolkit) for advanced text preprocessing.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423374" y="34956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Deployment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423374" y="39814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Streamlit for web interface development and GitHub for version control.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575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575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575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Tools &amp; Technologies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28875"/>
            <a:ext cx="5238750" cy="2857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18"/>
          <p:cNvGraphicFramePr/>
          <p:nvPr/>
        </p:nvGraphicFramePr>
        <p:xfrm>
          <a:off x="571500" y="2428875"/>
          <a:ext cx="5238750" cy="2990875"/>
        </p:xfrm>
        <a:graphic>
          <a:graphicData uri="http://schemas.openxmlformats.org/drawingml/2006/table">
            <a:tbl>
              <a:tblPr firstRow="1" bandRow="1">
                <a:noFill/>
                <a:tableStyleId>{75CFA206-6E5B-4238-9C4E-D06F54029BBE}</a:tableStyleId>
              </a:tblPr>
              <a:tblGrid>
                <a:gridCol w="203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Details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Records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~50,000 Text Entries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Original Labels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 (Positive) / 0 (Negative)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Processed Labels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Normal / Depression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Source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15A7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Aggregated Social Media 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28875"/>
            <a:ext cx="20002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571500" y="3605212"/>
            <a:ext cx="2035968" cy="9525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607468" y="3605212"/>
            <a:ext cx="3202781" cy="9525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71500" y="4205287"/>
            <a:ext cx="2035968" cy="9525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607468" y="4205287"/>
            <a:ext cx="3202781" cy="9525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71500" y="4805362"/>
            <a:ext cx="2035968" cy="9525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607468" y="4805362"/>
            <a:ext cx="3202781" cy="9525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71500" y="5405437"/>
            <a:ext cx="2035968" cy="9525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2607468" y="5405437"/>
            <a:ext cx="3202781" cy="9525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Description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>
            <a:off x="571500" y="3448050"/>
            <a:ext cx="11049000" cy="3810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1438275" y="32099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516254" y="3876675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Data Loading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4362450"/>
            <a:ext cx="2209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Importing CSV data and initial cleaning.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3648075" y="32099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2726055" y="3876675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Preprocessing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2781300" y="4362450"/>
            <a:ext cx="2209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Text normalization and filtering.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857875" y="32099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935855" y="3876675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Vectorization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991100" y="4362450"/>
            <a:ext cx="2209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Applying TF-IDF calculations.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8067675" y="32099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7145655" y="3876675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ML Training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200900" y="4362450"/>
            <a:ext cx="2209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Model selection and validation.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10277475" y="32099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9355455" y="3876675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App Launch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410700" y="4362450"/>
            <a:ext cx="2209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Deployment via Streamlit.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Overview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93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193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6810375" y="29337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Lowercasing: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Standardizing text cases.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810375" y="34290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Tokenization: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Segmenting text into words.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810375" y="39243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Stopword Removal: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Removing high-frequency noise.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810375" y="44196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Lemmatization: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Converting words to root forms.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9718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467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962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4577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NLTK Preprocessing Pipeline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7500"/>
            <a:ext cx="52387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57500"/>
            <a:ext cx="52387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66775" y="3152775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Class Distribution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66775" y="363855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The dataset maintains a healthy balance between "Normal" and "Depression" categories, ensuring the model avoids bias toward a majority class.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677025" y="3152775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Word Frequency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677025" y="363855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Analysis reveals high prevalence of self-referential pronouns and specific emotional keywords in the Depression category compared to Normal text.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 (EDA)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9441"/>
            <a:ext cx="11049000" cy="296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66355" y="4275683"/>
            <a:ext cx="5259139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695325" y="2820441"/>
            <a:ext cx="10801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Numerical Text Representation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52500" y="3353841"/>
            <a:ext cx="10287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0E1DD"/>
                </a:solidFill>
                <a:latin typeface="DM Sans"/>
                <a:ea typeface="DM Sans"/>
                <a:cs typeface="DM Sans"/>
                <a:sym typeface="DM Sans"/>
              </a:rPr>
              <a:t>We transform raw text into numerical vectors using Term Frequency-Inverse Document Frequency.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Engineering: TF-IDF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7500"/>
            <a:ext cx="52387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57500"/>
            <a:ext cx="52387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866775" y="3152775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SVC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66775" y="363855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Linear Support Vector Classification is optimized for large text samples, effectively finding the optimal hyperplane between classes.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677025" y="3152775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Logistic Regression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677025" y="363855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A statistical model used for binary classification to estimate probabilities of text belonging to a specific health status.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Models Used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67000"/>
            <a:ext cx="3492549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67000"/>
            <a:ext cx="3492549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67000"/>
            <a:ext cx="3492549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794225" y="36480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Accuracy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66775" y="41338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Overall percentage of correct classifications.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4572524" y="36480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Precision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4645074" y="41338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Reliability of "Depression" predictions.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8350824" y="36480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Recall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8423374" y="41338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Ability to find all true "Depression" cases.</a:t>
            </a:r>
            <a:endParaRPr/>
          </a:p>
        </p:txBody>
      </p:sp>
      <p:pic>
        <p:nvPicPr>
          <p:cNvPr id="262" name="Google Shape;26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7200" y="3009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3009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3009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Model Evaluation Metrics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62100"/>
            <a:ext cx="11049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947862" y="4581525"/>
            <a:ext cx="82962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Linear SVC demonstrated superior performance in handling sparse high-dimensional text data.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Comparative Analysis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571500" y="3003202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1B263B"/>
                </a:solidFill>
                <a:latin typeface="DM Sans"/>
                <a:ea typeface="DM Sans"/>
                <a:cs typeface="DM Sans"/>
                <a:sym typeface="DM Sans"/>
              </a:rPr>
              <a:t>89%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571500" y="4336702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263B"/>
                </a:solidFill>
                <a:latin typeface="DM Sans"/>
                <a:ea typeface="DM Sans"/>
                <a:cs typeface="DM Sans"/>
                <a:sym typeface="DM Sans"/>
              </a:rPr>
              <a:t>Classification Accuracy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6381750" y="2938462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Why Linear SVC?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6810375" y="34242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High Computational Efficiency.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6810375" y="39195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Effective in high-dimensional spaces.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6810375" y="441483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Clear margin of separation.</a:t>
            </a:r>
            <a:endParaRPr/>
          </a:p>
        </p:txBody>
      </p:sp>
      <p:pic>
        <p:nvPicPr>
          <p:cNvPr id="287" name="Google Shape;28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4623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957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4529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The Winning Architecture</a:t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571500" y="571500"/>
            <a:ext cx="52006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Web Application</a:t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571500" y="1162050"/>
            <a:ext cx="4953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1581150" y="1562100"/>
            <a:ext cx="30803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Streamlit Deployment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571500" y="20478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The model was integrated into a live web application using the Streamlit framework. This allows users to:</a:t>
            </a:r>
            <a:endParaRPr/>
          </a:p>
        </p:txBody>
      </p:sp>
      <p:pic>
        <p:nvPicPr>
          <p:cNvPr id="301" name="Google Shape;30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2209800" y="2800350"/>
            <a:ext cx="2105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Enter social media text.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2209800" y="3295650"/>
            <a:ext cx="2105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Get instant predictions.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2209800" y="3790950"/>
            <a:ext cx="2105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View probability scores.</a:t>
            </a:r>
            <a:endParaRPr/>
          </a:p>
        </p:txBody>
      </p:sp>
      <p:pic>
        <p:nvPicPr>
          <p:cNvPr id="305" name="Google Shape;30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81175" y="28384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81175" y="33337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81175" y="38290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4600"/>
            <a:ext cx="52387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14600"/>
            <a:ext cx="52387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8"/>
          <p:cNvSpPr txBox="1"/>
          <p:nvPr/>
        </p:nvSpPr>
        <p:spPr>
          <a:xfrm>
            <a:off x="866775" y="3495675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Version Control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866775" y="398145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The project was managed via GitHub, enabling seamless code sharing, issue tracking, and collaborative updates between team members.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6677025" y="2809875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Structure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6677025" y="329565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Well-documented scripts for preprocessing, model training, and the final application entry point (app.py).</a:t>
            </a:r>
            <a:endParaRPr/>
          </a:p>
        </p:txBody>
      </p:sp>
      <p:pic>
        <p:nvPicPr>
          <p:cNvPr id="319" name="Google Shape;31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857500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Collaborative Development</a:t>
            </a:r>
            <a:endParaRPr/>
          </a:p>
        </p:txBody>
      </p:sp>
      <p:sp>
        <p:nvSpPr>
          <p:cNvPr id="321" name="Google Shape;321;p2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9900"/>
            <a:ext cx="3492549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009900"/>
            <a:ext cx="3492549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009900"/>
            <a:ext cx="3492549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9"/>
          <p:cNvSpPr txBox="1"/>
          <p:nvPr/>
        </p:nvSpPr>
        <p:spPr>
          <a:xfrm>
            <a:off x="866775" y="33051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Scalable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866775" y="37909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Can process thousands of text posts in seconds.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4645074" y="33051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4645074" y="37909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Eliminates human bias in initial status screening.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8423374" y="33051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Accessible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8423374" y="37909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Available on web browsers for immediate testing.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Advantages</a:t>
            </a:r>
            <a:endParaRPr/>
          </a:p>
        </p:txBody>
      </p:sp>
      <p:sp>
        <p:nvSpPr>
          <p:cNvPr id="337" name="Google Shape;337;p2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0"/>
          <p:cNvSpPr txBox="1"/>
          <p:nvPr/>
        </p:nvSpPr>
        <p:spPr>
          <a:xfrm>
            <a:off x="2714625" y="3028950"/>
            <a:ext cx="719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Sarcasm Detection: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NLP struggles with ironic or sarcastic social media context.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2714625" y="3524250"/>
            <a:ext cx="7191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Short Text Nuance: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Very short posts (2-3 words) may lack sufficient diagnostic features.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2714625" y="4324350"/>
            <a:ext cx="719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Language Scope: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Currently optimized primarily for English text.</a:t>
            </a:r>
            <a:endParaRPr/>
          </a:p>
        </p:txBody>
      </p:sp>
      <p:pic>
        <p:nvPicPr>
          <p:cNvPr id="346" name="Google Shape;34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067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562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43624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Limitations</a:t>
            </a: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7500"/>
            <a:ext cx="3492549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57500"/>
            <a:ext cx="3492549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57500"/>
            <a:ext cx="3492549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1"/>
          <p:cNvSpPr txBox="1"/>
          <p:nvPr/>
        </p:nvSpPr>
        <p:spPr>
          <a:xfrm>
            <a:off x="866775" y="3152775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Multi-mod</a:t>
            </a:r>
            <a:r>
              <a:rPr lang="en-US" sz="2100" b="1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el</a:t>
            </a:r>
            <a:endParaRPr/>
          </a:p>
        </p:txBody>
      </p:sp>
      <p:sp>
        <p:nvSpPr>
          <p:cNvPr id="360" name="Google Shape;360;p31"/>
          <p:cNvSpPr txBox="1"/>
          <p:nvPr/>
        </p:nvSpPr>
        <p:spPr>
          <a:xfrm>
            <a:off x="866775" y="36385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Incorporating image and video analysis for holistic health checks.</a:t>
            </a: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4645074" y="31527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Real-time API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4645074" y="36385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Integration with X/Reddit APIs for proactive health alerts.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8423374" y="315277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15A77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8423374" y="36385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Upgrading to Transformer models (BERT/GPT) for higher accuracy.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Scope</a:t>
            </a:r>
            <a:endParaRPr/>
          </a:p>
        </p:txBody>
      </p:sp>
      <p:sp>
        <p:nvSpPr>
          <p:cNvPr id="366" name="Google Shape;366;p3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E0E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 txBox="1"/>
          <p:nvPr/>
        </p:nvSpPr>
        <p:spPr>
          <a:xfrm>
            <a:off x="3885723" y="2016472"/>
            <a:ext cx="4420552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B263B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3990975" y="3168997"/>
            <a:ext cx="42100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778DA9"/>
                </a:solidFill>
                <a:latin typeface="DM Sans"/>
                <a:ea typeface="DM Sans"/>
                <a:cs typeface="DM Sans"/>
                <a:sym typeface="DM Sans"/>
              </a:rPr>
              <a:t>Questions &amp; Answers Session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3990975" y="3946177"/>
            <a:ext cx="4210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Team Members: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DM Sans"/>
                <a:ea typeface="DM Sans"/>
                <a:cs typeface="DM Sans"/>
                <a:sym typeface="DM Sans"/>
              </a:rPr>
              <a:t> Abhi P Vijay &amp; Nakshathra 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Widescreen</PresentationFormat>
  <Paragraphs>115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Merriweather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 p  vijay</cp:lastModifiedBy>
  <cp:revision>1</cp:revision>
  <dcterms:modified xsi:type="dcterms:W3CDTF">2026-05-14T15:09:59Z</dcterms:modified>
</cp:coreProperties>
</file>